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51435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1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33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79307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285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21396" y="3264408"/>
            <a:ext cx="5101209" cy="929921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15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8C6C-150A-D146-845E-C8C041A448C5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C474D-5C45-1946-BCEF-8E5ACBBF6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0360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8C6C-150A-D146-845E-C8C041A448C5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C474D-5C45-1946-BCEF-8E5ACBBF6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81965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200150" y="1790058"/>
            <a:ext cx="6743700" cy="123444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285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21396" y="3264349"/>
            <a:ext cx="5101209" cy="94881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15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8C6C-150A-D146-845E-C8C041A448C5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C474D-5C45-1946-BCEF-8E5ACBBF6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167667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86434" y="1978533"/>
            <a:ext cx="3203828" cy="2326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53737" y="1978533"/>
            <a:ext cx="3202685" cy="2326487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8C6C-150A-D146-845E-C8C041A448C5}" type="datetimeFigureOut">
              <a:rPr lang="en-US" smtClean="0"/>
              <a:t>4/17/26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C474D-5C45-1946-BCEF-8E5ACBBF6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480547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8757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87577" y="2357438"/>
            <a:ext cx="3202686" cy="19475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3737" y="2357438"/>
            <a:ext cx="3190113" cy="1947582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4753737" y="1735075"/>
            <a:ext cx="3202686" cy="528065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425" b="0" cap="all" spc="75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342900" indent="0">
              <a:buNone/>
              <a:defRPr sz="1425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8C6C-150A-D146-845E-C8C041A448C5}" type="datetimeFigureOut">
              <a:rPr lang="en-US" smtClean="0"/>
              <a:t>4/17/26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C474D-5C45-1946-BCEF-8E5ACBBF689F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707717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8C6C-150A-D146-845E-C8C041A448C5}" type="datetimeFigureOut">
              <a:rPr lang="en-US" smtClean="0"/>
              <a:t>4/17/26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C474D-5C45-1946-BCEF-8E5ACBBF6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971483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8C6C-150A-D146-845E-C8C041A448C5}" type="datetimeFigureOut">
              <a:rPr lang="en-US" smtClean="0"/>
              <a:t>4/17/26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C474D-5C45-1946-BCEF-8E5ACBBF6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2264199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3504" y="1682871"/>
            <a:ext cx="3364992" cy="856123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52060" y="603504"/>
            <a:ext cx="3611880" cy="3936492"/>
          </a:xfrm>
        </p:spPr>
        <p:txBody>
          <a:bodyPr>
            <a:normAutofit/>
          </a:bodyPr>
          <a:lstStyle>
            <a:lvl1pPr>
              <a:defRPr sz="1425">
                <a:solidFill>
                  <a:schemeClr val="tx1"/>
                </a:solidFill>
              </a:defRPr>
            </a:lvl1pPr>
            <a:lvl2pPr>
              <a:defRPr sz="1200">
                <a:solidFill>
                  <a:schemeClr val="tx1"/>
                </a:solidFill>
              </a:defRPr>
            </a:lvl2pPr>
            <a:lvl3pPr>
              <a:defRPr sz="1200">
                <a:solidFill>
                  <a:schemeClr val="tx1"/>
                </a:solidFill>
              </a:defRPr>
            </a:lvl3pPr>
            <a:lvl4pPr>
              <a:defRPr sz="1200">
                <a:solidFill>
                  <a:schemeClr val="tx1"/>
                </a:solidFill>
              </a:defRPr>
            </a:lvl4pPr>
            <a:lvl5pPr>
              <a:defRPr sz="1200">
                <a:solidFill>
                  <a:schemeClr val="tx1"/>
                </a:solidFill>
              </a:defRPr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8C6C-150A-D146-845E-C8C041A448C5}" type="datetimeFigureOut">
              <a:rPr lang="en-US" smtClean="0"/>
              <a:t>4/17/26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C474D-5C45-1946-BCEF-8E5ACBBF6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619841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1" y="0"/>
            <a:ext cx="4571999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606392" y="1682871"/>
            <a:ext cx="3371249" cy="85098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165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572000" y="0"/>
            <a:ext cx="4576573" cy="51435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24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6676" y="2662439"/>
            <a:ext cx="2846070" cy="1645528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125">
                <a:solidFill>
                  <a:srgbClr val="FFFFFF"/>
                </a:solidFill>
              </a:defRPr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37648C6C-150A-D146-845E-C8C041A448C5}" type="datetimeFigureOut">
              <a:rPr lang="en-US" smtClean="0"/>
              <a:t>4/17/26</a:t>
            </a:fld>
            <a:endParaRPr lang="en-US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603504" y="4677156"/>
            <a:ext cx="3843598" cy="24003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C474D-5C45-1946-BCEF-8E5ACBBF6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48817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8C6C-150A-D146-845E-C8C041A448C5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C474D-5C45-1946-BCEF-8E5ACBBF6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86819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489834" y="702945"/>
            <a:ext cx="973956" cy="373761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3352" y="702945"/>
            <a:ext cx="4648867" cy="373761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648C6C-150A-D146-845E-C8C041A448C5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CC474D-5C45-1946-BCEF-8E5ACBBF6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779051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647329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673352" y="723519"/>
            <a:ext cx="5797296" cy="89154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73352" y="1978534"/>
            <a:ext cx="5797296" cy="232648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866072" y="4679112"/>
            <a:ext cx="2065310" cy="24297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37648C6C-150A-D146-845E-C8C041A448C5}" type="datetimeFigureOut">
              <a:rPr lang="en-US" smtClean="0"/>
              <a:t>4/17/26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0150" y="4677156"/>
            <a:ext cx="4425892" cy="24003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88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69192" y="4663440"/>
            <a:ext cx="274320" cy="27432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825" spc="0" baseline="0">
                <a:solidFill>
                  <a:srgbClr val="FFFFFF"/>
                </a:solidFill>
              </a:defRPr>
            </a:lvl1pPr>
          </a:lstStyle>
          <a:p>
            <a:fld id="{ECCC474D-5C45-1946-BCEF-8E5ACBBF689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12290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</p:sldLayoutIdLst>
  <p:hf sldNum="0" hdr="0" ftr="0" dt="0"/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2100" kern="1200" cap="all" spc="15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35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3429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5143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68580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857250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984647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113235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1243013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412081" indent="-171450" algn="l" defTabSz="685800" rtl="0" eaLnBrk="1" latinLnBrk="0" hangingPunct="1">
        <a:lnSpc>
          <a:spcPct val="100000"/>
        </a:lnSpc>
        <a:spcBef>
          <a:spcPts val="750"/>
        </a:spcBef>
        <a:buClr>
          <a:schemeClr val="accent2"/>
        </a:buClr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30659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64008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Smart Waste Bin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D9E7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Monitoring System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548640" y="26974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9FE1C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Using Fog &amp; Edge Computing + AWS Cloud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548640" y="3310128"/>
            <a:ext cx="786384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3456432"/>
            <a:ext cx="8046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SAPNA THAKUR </a:t>
            </a:r>
            <a:r>
              <a:rPr lang="en-US" sz="140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| x24196614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4700016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 — Why Do We Need This?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2697480" cy="2971800"/>
          </a:xfrm>
          <a:prstGeom prst="rect">
            <a:avLst/>
          </a:prstGeom>
          <a:solidFill>
            <a:srgbClr val="FEE2E2"/>
          </a:solidFill>
          <a:ln w="317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1325880" y="9144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25880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X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457200" y="11704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Bins overflow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7200" y="1664208"/>
            <a:ext cx="2423160" cy="0"/>
          </a:xfrm>
          <a:prstGeom prst="line">
            <a:avLst/>
          </a:prstGeom>
          <a:noFill/>
          <a:ln w="127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1755648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trucks visit bins on a fixed schedule — Monday, Wednesday, Friday — no matter how full they are. Some bins overflow on Tuesday and sit there smelling bad for 2 days. Nobody knows until it is too late.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3246120" y="1078992"/>
            <a:ext cx="2697480" cy="2971800"/>
          </a:xfrm>
          <a:prstGeom prst="rect">
            <a:avLst/>
          </a:prstGeom>
          <a:solidFill>
            <a:srgbClr val="FEF9C3"/>
          </a:solidFill>
          <a:ln w="3175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251960" y="914400"/>
            <a:ext cx="685800" cy="685800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251960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$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3383280" y="11704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Wasted money &amp; fuel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383280" y="1664208"/>
            <a:ext cx="2423160" cy="0"/>
          </a:xfrm>
          <a:prstGeom prst="line">
            <a:avLst/>
          </a:prstGeom>
          <a:noFill/>
          <a:ln w="127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83280" y="1755648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Trucks drive around collecting bins that are only 20% full. This wastes fuel, driver time and council money. Studies show up to 40% of collection trips are unnecessary because bins are not actually full yet.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72200" y="1078992"/>
            <a:ext cx="2697480" cy="2971800"/>
          </a:xfrm>
          <a:prstGeom prst="rect">
            <a:avLst/>
          </a:prstGeom>
          <a:solidFill>
            <a:srgbClr val="EDE7F6"/>
          </a:solidFill>
          <a:ln w="317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7178040" y="914400"/>
            <a:ext cx="685800" cy="685800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7178040" y="914400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</a:rPr>
              <a:t>?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6309360" y="117043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real-time data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309360" y="1664208"/>
            <a:ext cx="2423160" cy="0"/>
          </a:xfrm>
          <a:prstGeom prst="line">
            <a:avLst/>
          </a:prstGeom>
          <a:noFill/>
          <a:ln w="127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6309360" y="1755648"/>
            <a:ext cx="2423160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15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There is no way to know which bins are full right now without physically driving to each one and looking inside. There is no data, no alerts, no system — just guessing based on a fixed schedule.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20040" y="4187952"/>
            <a:ext cx="8503920" cy="804672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02920" y="42336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Our Solution: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1920240" y="4233672"/>
            <a:ext cx="67665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Put 5 sensors on every bin → sensors send live data every few seconds → fog node processes it locally → AWS cloud stores it → dashboard shows which bins need collection RIGHT NOW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 — 3 Layers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2514600" cy="3794760"/>
          </a:xfrm>
          <a:prstGeom prst="rect">
            <a:avLst/>
          </a:prstGeom>
          <a:solidFill>
            <a:srgbClr val="E1F5EE"/>
          </a:solidFill>
          <a:ln w="317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20040" y="1051560"/>
            <a:ext cx="2514600" cy="54864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7200" y="10698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FE1CB"/>
                </a:solidFill>
              </a:rPr>
              <a:t>Layer 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30759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Sensors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16459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sensor_simulator.py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18745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Runs on your Mac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148840"/>
            <a:ext cx="2240280" cy="0"/>
          </a:xfrm>
          <a:prstGeom prst="line">
            <a:avLst/>
          </a:prstGeom>
          <a:noFill/>
          <a:ln w="9525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2212848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level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Gas / Odour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Temperature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Lid status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sends data every 2-10 seconds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834640" y="25603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HTTP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POST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D9E75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474720" y="1051560"/>
            <a:ext cx="2514600" cy="3794760"/>
          </a:xfrm>
          <a:prstGeom prst="rect">
            <a:avLst/>
          </a:prstGeom>
          <a:solidFill>
            <a:srgbClr val="EDE7F6"/>
          </a:solidFill>
          <a:ln w="317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3474720" y="1051560"/>
            <a:ext cx="2514600" cy="548640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611880" y="10698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ECBF6"/>
                </a:solidFill>
              </a:rPr>
              <a:t>Layer 2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1307592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Fog Node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611880" y="16459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fog_node.py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611880" y="1874520"/>
            <a:ext cx="22402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Runs on your Mac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11880" y="2148840"/>
            <a:ext cx="2240280" cy="0"/>
          </a:xfrm>
          <a:prstGeom prst="line">
            <a:avLst/>
          </a:prstGeom>
          <a:noFill/>
          <a:ln w="9525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3611880" y="2212848"/>
            <a:ext cx="224028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all sensor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Validates every reading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Calculates avg / min / max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Saves data if cloud is down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Sends 1 summary to cloud every 10 seconds instead of 50 raw readings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989320" y="2560320"/>
            <a:ext cx="6400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534AB7"/>
                </a:solidFill>
              </a:rPr>
              <a:t>Every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534AB7"/>
                </a:solidFill>
              </a:rPr>
              <a:t>10s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534AB7"/>
                </a:solidFill>
              </a:rPr>
              <a:t>→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629400" y="1051560"/>
            <a:ext cx="2240280" cy="3794760"/>
          </a:xfrm>
          <a:prstGeom prst="rect">
            <a:avLst/>
          </a:prstGeom>
          <a:solidFill>
            <a:srgbClr val="FFF8E1"/>
          </a:solidFill>
          <a:ln w="3175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6629400" y="1051560"/>
            <a:ext cx="2240280" cy="54864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6766560" y="1069848"/>
            <a:ext cx="914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AC775"/>
                </a:solidFill>
              </a:rPr>
              <a:t>Layer 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1307592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AWS Cloud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766560" y="16459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cloud_backend.py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766560" y="187452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280"/>
                </a:solidFill>
              </a:rPr>
              <a:t>AWS Elastic Beanstalk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766560" y="2148840"/>
            <a:ext cx="1965960" cy="0"/>
          </a:xfrm>
          <a:prstGeom prst="line">
            <a:avLst/>
          </a:prstGeom>
          <a:noFill/>
          <a:ln w="9525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6766560" y="2212848"/>
            <a:ext cx="196596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Receives fog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 — handles spikes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workers — process data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Stores all readings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Serves REST API 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24/7 on AWS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51560"/>
            <a:ext cx="8503920" cy="658368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115568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Anyone can open this link and see the live dashboard — no login, no setup, no local files needed: 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20040" y="1828800"/>
            <a:ext cx="8503920" cy="54864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1901952"/>
            <a:ext cx="83210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http://Smart-waste-bin-env.eba-zvrsdqbr.us-east-1.elasticbeanstalk.com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" y="2514600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20040" y="2514600"/>
            <a:ext cx="201168" cy="749808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612648" y="2569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5 sensor cards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12648" y="28620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Shows latest value for fill level, weight, gas, temperature, lid — updates every 5 seconds automatically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3355848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320040" y="3355848"/>
            <a:ext cx="201168" cy="749808"/>
          </a:xfrm>
          <a:prstGeom prst="rect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12648" y="34107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4 live charts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" y="3703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Line charts showing how each sensor value has changed over time — you can see the bin slowly filling up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320040" y="4197096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20040" y="4197096"/>
            <a:ext cx="201168" cy="749808"/>
          </a:xfrm>
          <a:prstGeom prst="rect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12648" y="4251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Alert system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12648" y="4544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Cards turn red with an ALERT badge when a sensor crosses its threshold — e.g. fill &gt; 80% or gas &gt; 400ppm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617720" y="2514600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17720" y="2514600"/>
            <a:ext cx="201168" cy="749808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910328" y="2569464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Bin selector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10328" y="286207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Dropdown to switch between different bins — BIN-001, BIN-002 etc. all shown separately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17720" y="3355848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4617720" y="3355848"/>
            <a:ext cx="201168" cy="749808"/>
          </a:xfrm>
          <a:prstGeom prst="rect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910328" y="34107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Alert feed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10328" y="370332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List of all recent alerts with timestamp, sensor name and value — full history of problem events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4617720" y="4197096"/>
            <a:ext cx="4160520" cy="749808"/>
          </a:xfrm>
          <a:prstGeom prst="rect">
            <a:avLst/>
          </a:prstGeom>
          <a:solidFill>
            <a:srgbClr val="FFFFFF"/>
          </a:solidFill>
          <a:ln w="1905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4617720" y="4197096"/>
            <a:ext cx="201168" cy="749808"/>
          </a:xfrm>
          <a:prstGeom prst="rect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4910328" y="42519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2E"/>
                </a:solidFill>
              </a:rPr>
              <a:t>Auto refresh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10328" y="454456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Dashboard automatically pulls new data from AWS every 5 seconds — no manual refresh needed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8FAF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02920" y="118872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— Open These Links Now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603504"/>
          </a:xfrm>
          <a:prstGeom prst="rect">
            <a:avLst/>
          </a:prstGeom>
          <a:solidFill>
            <a:srgbClr val="FFFFFF"/>
          </a:solidFill>
          <a:ln w="2540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384048" y="1152144"/>
            <a:ext cx="457200" cy="457200"/>
          </a:xfrm>
          <a:prstGeom prst="ellipse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84048" y="11521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960120" y="11247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Live Dashboard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138988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Open this first — show charts updating live with real sensor data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166360" y="121615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D9E7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http://Smart-waste-bin-env.eba-zvrsdqbr.us-east-1.elasticbeanstalk.com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737360"/>
            <a:ext cx="8503920" cy="603504"/>
          </a:xfrm>
          <a:prstGeom prst="rect">
            <a:avLst/>
          </a:prstGeom>
          <a:solidFill>
            <a:srgbClr val="FFFFFF"/>
          </a:solidFill>
          <a:ln w="25400">
            <a:solidFill>
              <a:srgbClr val="185FA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84048" y="1810512"/>
            <a:ext cx="457200" cy="457200"/>
          </a:xfrm>
          <a:prstGeom prst="ellipse">
            <a:avLst/>
          </a:prstGeom>
          <a:solidFill>
            <a:srgbClr val="185FA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84048" y="181051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60120" y="17830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Health Check — proof of scalability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2048256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Shows workers:3 (Lambda), queue_size (SQS), total_records going up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166360" y="1874520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85FA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http://Smart-waste-bin-env.eba-zvrsdqbr.us-east-1.elasticbeanstalk.com/api/health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0040" y="2395728"/>
            <a:ext cx="8503920" cy="603504"/>
          </a:xfrm>
          <a:prstGeom prst="rect">
            <a:avLst/>
          </a:prstGeom>
          <a:solidFill>
            <a:srgbClr val="FFFFFF"/>
          </a:solidFill>
          <a:ln w="25400">
            <a:solidFill>
              <a:srgbClr val="534AB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84048" y="2468880"/>
            <a:ext cx="457200" cy="457200"/>
          </a:xfrm>
          <a:prstGeom prst="ellipse">
            <a:avLst/>
          </a:prstGeom>
          <a:solidFill>
            <a:srgbClr val="534AB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384048" y="24688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960120" y="244144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API Documentation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960120" y="2706624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FastAPI auto-generates this — shows all endpoints live on AWS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166360" y="2532888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34AB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http://Smart-waste-bin-env.eba-zvrsdqbr.us-east-1.elasticbeanstalk.com/docs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20040" y="3054096"/>
            <a:ext cx="8503920" cy="603504"/>
          </a:xfrm>
          <a:prstGeom prst="rect">
            <a:avLst/>
          </a:prstGeom>
          <a:solidFill>
            <a:srgbClr val="FFFFFF"/>
          </a:solidFill>
          <a:ln w="25400">
            <a:solidFill>
              <a:srgbClr val="BA751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384048" y="3127248"/>
            <a:ext cx="457200" cy="457200"/>
          </a:xfrm>
          <a:prstGeom prst="ellipse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84048" y="312724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30998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Live Sensor Data (JSON)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336499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Real data stored on AWS — fill level, weight, gas, temp, lid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166360" y="3191256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BA751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http://Smart-waste-bin-env.eba-zvrsdqbr.us-east-1.elasticbeanstalk.com/api/latest/BIN-001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320040" y="3712464"/>
            <a:ext cx="8503920" cy="603504"/>
          </a:xfrm>
          <a:prstGeom prst="rect">
            <a:avLst/>
          </a:prstGeom>
          <a:solidFill>
            <a:srgbClr val="FFFFFF"/>
          </a:solidFill>
          <a:ln w="25400">
            <a:solidFill>
              <a:srgbClr val="DC262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84048" y="3785616"/>
            <a:ext cx="457200" cy="457200"/>
          </a:xfrm>
          <a:prstGeom prst="ellipse">
            <a:avLst/>
          </a:prstGeom>
          <a:solidFill>
            <a:srgbClr val="DC262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384048" y="37856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5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960120" y="375818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Alert Feed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960120" y="4023360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Shows all alert events when sensors exceeded thresholds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166360" y="3849624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DC262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http://Smart-waste-bin-env.eba-zvrsdqbr.us-east-1.elasticbeanstalk.com/api/alerts/BIN-001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4370832"/>
            <a:ext cx="8503920" cy="603504"/>
          </a:xfrm>
          <a:prstGeom prst="rect">
            <a:avLst/>
          </a:prstGeom>
          <a:solidFill>
            <a:srgbClr val="FFFFFF"/>
          </a:solidFill>
          <a:ln w="25400">
            <a:solidFill>
              <a:srgbClr val="3741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Shape 35"/>
          <p:cNvSpPr/>
          <p:nvPr/>
        </p:nvSpPr>
        <p:spPr>
          <a:xfrm>
            <a:off x="384048" y="4443984"/>
            <a:ext cx="457200" cy="457200"/>
          </a:xfrm>
          <a:prstGeom prst="ellipse">
            <a:avLst/>
          </a:prstGeom>
          <a:solidFill>
            <a:srgbClr val="3741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84048" y="444398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6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960120" y="441655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</a:rPr>
              <a:t>GitHub — Source Code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960120" y="468172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7280"/>
                </a:solidFill>
              </a:rPr>
              <a:t>All 4 files with comments — full project code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166360" y="4507992"/>
            <a:ext cx="3520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https://github.com/thakursapna1996/smart-waste-bin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82880"/>
            <a:ext cx="9144000" cy="5143500"/>
          </a:xfrm>
          <a:prstGeom prst="rect">
            <a:avLst/>
          </a:prstGeom>
          <a:solidFill>
            <a:srgbClr val="1A1A2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274320" cy="514350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1D9E75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2920" y="182880"/>
            <a:ext cx="8321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Built &amp; What We Learned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502920" y="960120"/>
            <a:ext cx="822960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50292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D9E75"/>
                </a:solidFill>
              </a:rPr>
              <a:t>All requirements met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sensor types with configurable frequency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Virtual fog node — receives, validates, aggregates, dispatches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Scalable AWS backend — queue + 3 workers + auto-scaling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responsive dashboard on AWS — anyone can open it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Deployed and tested on AWS Elastic Beanstalk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4754880" y="1051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A7517"/>
                </a:solidFill>
              </a:rPr>
              <a:t>Biggest challenge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754880" y="1508760"/>
            <a:ext cx="393192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AWS showed 502 Bad Gateway error after deployment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Problem: nginx expected port 5000 but app used 8080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Fix: switched to gunicorn on port 8000 with custom nginx config</a:t>
            </a:r>
            <a:endParaRPr lang="en-US" sz="1250" dirty="0"/>
          </a:p>
          <a:p>
            <a:pPr marL="342900" indent="-342900"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Lesson: knowing the code is not enough — you must understand the full deployment stack too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02920" y="4160520"/>
            <a:ext cx="8229600" cy="0"/>
          </a:xfrm>
          <a:prstGeom prst="line">
            <a:avLst/>
          </a:prstGeom>
          <a:noFill/>
          <a:ln w="19050">
            <a:solidFill>
              <a:srgbClr val="1D9E7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02920" y="4251960"/>
            <a:ext cx="8229600" cy="347472"/>
          </a:xfrm>
          <a:prstGeom prst="rect">
            <a:avLst/>
          </a:prstGeom>
          <a:solidFill>
            <a:srgbClr val="08504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0080" y="4270248"/>
            <a:ext cx="79552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FE1C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http://Smart-waste-bin-env.eba-zvrsdqbr.us-east-1.elasticbeanstalk.com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74320" y="4700016"/>
            <a:ext cx="8595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Parcel</Template>
  <TotalTime>9</TotalTime>
  <Words>793</Words>
  <Application>Microsoft Macintosh PowerPoint</Application>
  <PresentationFormat>On-screen Show (16:9)</PresentationFormat>
  <Paragraphs>112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Courier New</vt:lpstr>
      <vt:lpstr>Gill Sans MT</vt:lpstr>
      <vt:lpstr>Parcel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Smart Waste Bin</dc:title>
  <dc:subject>Fog ans edge</dc:subject>
  <dc:creator>Sapna Thakur</dc:creator>
  <cp:keywords/>
  <dc:description/>
  <cp:lastModifiedBy>Sapna Thakur</cp:lastModifiedBy>
  <cp:revision>6</cp:revision>
  <dcterms:created xsi:type="dcterms:W3CDTF">2026-04-17T01:24:21Z</dcterms:created>
  <dcterms:modified xsi:type="dcterms:W3CDTF">2026-04-17T01:47:31Z</dcterms:modified>
  <cp:category/>
</cp:coreProperties>
</file>